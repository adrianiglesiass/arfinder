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33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2988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188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7A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SISTEMA DE DISEÑO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Guía de estilos</a:t>
            </a:r>
            <a:endParaRPr lang="en-US" sz="7600" dirty="0"/>
          </a:p>
        </p:txBody>
      </p:sp>
      <p:sp>
        <p:nvSpPr>
          <p:cNvPr id="4" name="Text 2"/>
          <p:cNvSpPr/>
          <p:nvPr/>
        </p:nvSpPr>
        <p:spPr>
          <a:xfrm>
            <a:off x="640080" y="35204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4D4D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 identidad visual de Arfinder: color, tipografía, componentes y metodología.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493776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18181B"/>
          </a:solidFill>
          <a:ln w="12700">
            <a:solidFill>
              <a:srgbClr val="3F3F4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1417320" y="493776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007AFF"/>
          </a:solidFill>
          <a:ln w="12700">
            <a:solidFill>
              <a:srgbClr val="3F3F4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194560" y="493776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E5E5EA"/>
          </a:solidFill>
          <a:ln w="12700">
            <a:solidFill>
              <a:srgbClr val="3F3F4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2971800" y="493776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5AC8FA"/>
          </a:solidFill>
          <a:ln w="12700">
            <a:solidFill>
              <a:srgbClr val="3F3F4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3749040" y="493776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22C55E"/>
          </a:solidFill>
          <a:ln w="12700">
            <a:solidFill>
              <a:srgbClr val="3F3F4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640080" y="6035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1A1A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Adrián Iglesias Álvarez · Arfinder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7A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PALETA · BASE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8181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Colores base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429000" cy="1645920"/>
          </a:xfrm>
          <a:prstGeom prst="roundRect">
            <a:avLst>
              <a:gd name="adj" fmla="val 6667"/>
            </a:avLst>
          </a:prstGeom>
          <a:solidFill>
            <a:srgbClr val="18181B"/>
          </a:solidFill>
          <a:ln w="12700">
            <a:solidFill>
              <a:srgbClr val="E4E4E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914400" y="29718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Primary / Accent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31012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1A1A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#18181b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43400" y="2103120"/>
            <a:ext cx="342900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blurRad="114300" dist="38100" dir="5400000" algn="bl" rotWithShape="0">
              <a:srgbClr val="18181B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4617720" y="29718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818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Blanco / fondo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17720" y="331012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#ffffff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46720" y="2103120"/>
            <a:ext cx="3429000" cy="1645920"/>
          </a:xfrm>
          <a:prstGeom prst="roundRect">
            <a:avLst>
              <a:gd name="adj" fmla="val 6667"/>
            </a:avLst>
          </a:prstGeom>
          <a:solidFill>
            <a:srgbClr val="E4E4E7"/>
          </a:solidFill>
          <a:ln w="12700">
            <a:solidFill>
              <a:srgbClr val="E4E4E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8321040" y="29718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818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Gray border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21040" y="331012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#e4e4e7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977640"/>
            <a:ext cx="3429000" cy="1645920"/>
          </a:xfrm>
          <a:prstGeom prst="roundRect">
            <a:avLst>
              <a:gd name="adj" fmla="val 6667"/>
            </a:avLst>
          </a:prstGeom>
          <a:solidFill>
            <a:srgbClr val="ECECEC"/>
          </a:solidFill>
          <a:ln w="12700">
            <a:solidFill>
              <a:srgbClr val="E4E4E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914400" y="48463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818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Hairline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518464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#ececec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43400" y="3977640"/>
            <a:ext cx="3429000" cy="1645920"/>
          </a:xfrm>
          <a:prstGeom prst="roundRect">
            <a:avLst>
              <a:gd name="adj" fmla="val 6667"/>
            </a:avLst>
          </a:prstGeom>
          <a:solidFill>
            <a:srgbClr val="F7F7F8"/>
          </a:solidFill>
          <a:ln w="12700">
            <a:solidFill>
              <a:srgbClr val="E4E4E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4617720" y="48463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818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Accent soft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617720" y="518464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rgba(24,24,27,.03)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Arfinder · Guía de estilos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72281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055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7A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PALETA · ESTADOS Y CHAT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8181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Color con significado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1371600" cy="1371600"/>
          </a:xfrm>
          <a:prstGeom prst="roundRect">
            <a:avLst>
              <a:gd name="adj" fmla="val 12000"/>
            </a:avLst>
          </a:prstGeom>
          <a:solidFill>
            <a:srgbClr val="22C55E"/>
          </a:solidFill>
          <a:ln w="12700">
            <a:solidFill>
              <a:srgbClr val="E4E4E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48640" y="3611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818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Éxito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39044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#22c55e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194560" y="2148840"/>
            <a:ext cx="1371600" cy="1371600"/>
          </a:xfrm>
          <a:prstGeom prst="roundRect">
            <a:avLst>
              <a:gd name="adj" fmla="val 12000"/>
            </a:avLst>
          </a:prstGeom>
          <a:solidFill>
            <a:srgbClr val="007AFF"/>
          </a:solidFill>
          <a:ln w="12700">
            <a:solidFill>
              <a:srgbClr val="E4E4E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2103120" y="3611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818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Mensaje enviado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103120" y="39044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#007aff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749040" y="2148840"/>
            <a:ext cx="1371600" cy="1371600"/>
          </a:xfrm>
          <a:prstGeom prst="roundRect">
            <a:avLst>
              <a:gd name="adj" fmla="val 12000"/>
            </a:avLst>
          </a:prstGeom>
          <a:solidFill>
            <a:srgbClr val="E5E5EA"/>
          </a:solidFill>
          <a:ln w="12700">
            <a:solidFill>
              <a:srgbClr val="E4E4E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657600" y="3611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818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Mensaje recibido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657600" y="39044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#e5e5ea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303520" y="2148840"/>
            <a:ext cx="1371600" cy="1371600"/>
          </a:xfrm>
          <a:prstGeom prst="roundRect">
            <a:avLst>
              <a:gd name="adj" fmla="val 12000"/>
            </a:avLst>
          </a:prstGeom>
          <a:solidFill>
            <a:srgbClr val="5AC8FA"/>
          </a:solidFill>
          <a:ln w="12700">
            <a:solidFill>
              <a:srgbClr val="E4E4E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5212080" y="3611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818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Mensaje leído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212080" y="39044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#5ac8fa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138160" y="2103120"/>
            <a:ext cx="3429000" cy="3383280"/>
          </a:xfrm>
          <a:prstGeom prst="roundRect">
            <a:avLst>
              <a:gd name="adj" fmla="val 4865"/>
            </a:avLst>
          </a:prstGeom>
          <a:solidFill>
            <a:srgbClr val="F7F7F8"/>
          </a:solidFill>
          <a:ln w="12700">
            <a:solidFill>
              <a:srgbClr val="E4E4E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8412480" y="242316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E5E5E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8412480" y="2423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818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¿Sigue libre la habitación?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06840" y="315468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007A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9006840" y="3154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Sí, </a:t>
            </a:r>
            <a:r>
              <a:rPr lang="en-US" sz="1050" dirty="0" err="1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todavía</a:t>
            </a:r>
            <a:r>
              <a:rPr lang="en-US" sz="10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</a:t>
            </a:r>
            <a:r>
              <a:rPr lang="en-US" sz="1050" dirty="0" err="1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sigue</a:t>
            </a:r>
            <a:r>
              <a:rPr lang="en-US" sz="10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libre!!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412480" y="388620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E5E5E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8412480" y="38862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818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¡Genial!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006840" y="4617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C8F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Leído ✓✓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Arfinder · Guía de estilos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72281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7A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TIPOGRAFÍA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8181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Serif con carácter, sans clara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303520" cy="3383280"/>
          </a:xfrm>
          <a:prstGeom prst="roundRect">
            <a:avLst>
              <a:gd name="adj" fmla="val 3243"/>
            </a:avLst>
          </a:prstGeom>
          <a:solidFill>
            <a:srgbClr val="F7F7F8"/>
          </a:solidFill>
          <a:ln w="12700">
            <a:solidFill>
              <a:srgbClr val="E4E4E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1005840" y="2331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A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Playfair Display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265176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18181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Aa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1005840" y="4023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252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Titulares (serif)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4663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h1 2.25 · h2 1.75 · h3 1.375 rem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2103120"/>
            <a:ext cx="5303520" cy="3383280"/>
          </a:xfrm>
          <a:prstGeom prst="roundRect">
            <a:avLst>
              <a:gd name="adj" fmla="val 3243"/>
            </a:avLst>
          </a:prstGeom>
          <a:solidFill>
            <a:srgbClr val="F7F7F8"/>
          </a:solidFill>
          <a:ln w="12700">
            <a:solidFill>
              <a:srgbClr val="E4E4E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6629400" y="2331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A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Plus Jakarta Sans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29400" y="265176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1818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Aa</a:t>
            </a:r>
            <a:endParaRPr lang="en-US" sz="8000" dirty="0"/>
          </a:p>
        </p:txBody>
      </p:sp>
      <p:sp>
        <p:nvSpPr>
          <p:cNvPr id="12" name="Text 10"/>
          <p:cNvSpPr/>
          <p:nvPr/>
        </p:nvSpPr>
        <p:spPr>
          <a:xfrm>
            <a:off x="6629400" y="4023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252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Cuerpo de texto (sans)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29400" y="4663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 1rem · pesos 400 / 600 / 700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Arfinder · Guía de estilos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72281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3392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7A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ICONOGRAFÍA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8181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PrimeIcons + SVGs propios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2377440" cy="1280160"/>
          </a:xfrm>
          <a:prstGeom prst="roundRect">
            <a:avLst>
              <a:gd name="adj" fmla="val 8571"/>
            </a:avLst>
          </a:prstGeom>
          <a:solidFill>
            <a:srgbClr val="F7F7F8"/>
          </a:solidFill>
          <a:ln w="12700">
            <a:solidFill>
              <a:srgbClr val="E4E4E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960120" y="257860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715768"/>
            <a:ext cx="274320" cy="274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337560" y="2194560"/>
            <a:ext cx="2377440" cy="1280160"/>
          </a:xfrm>
          <a:prstGeom prst="roundRect">
            <a:avLst>
              <a:gd name="adj" fmla="val 8571"/>
            </a:avLst>
          </a:prstGeom>
          <a:solidFill>
            <a:srgbClr val="F7F7F8"/>
          </a:solidFill>
          <a:ln w="12700">
            <a:solidFill>
              <a:srgbClr val="E4E4E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5"/>
          <p:cNvSpPr/>
          <p:nvPr/>
        </p:nvSpPr>
        <p:spPr>
          <a:xfrm>
            <a:off x="3657600" y="257860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4760" y="2715768"/>
            <a:ext cx="274320" cy="2743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035040" y="2194560"/>
            <a:ext cx="2377440" cy="1280160"/>
          </a:xfrm>
          <a:prstGeom prst="roundRect">
            <a:avLst>
              <a:gd name="adj" fmla="val 8571"/>
            </a:avLst>
          </a:prstGeom>
          <a:solidFill>
            <a:srgbClr val="F7F7F8"/>
          </a:solidFill>
          <a:ln w="12700">
            <a:solidFill>
              <a:srgbClr val="E4E4E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7"/>
          <p:cNvSpPr/>
          <p:nvPr/>
        </p:nvSpPr>
        <p:spPr>
          <a:xfrm>
            <a:off x="6355080" y="257860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2715768"/>
            <a:ext cx="274320" cy="27432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8732520" y="2194560"/>
            <a:ext cx="2377440" cy="1280160"/>
          </a:xfrm>
          <a:prstGeom prst="roundRect">
            <a:avLst>
              <a:gd name="adj" fmla="val 8571"/>
            </a:avLst>
          </a:prstGeom>
          <a:solidFill>
            <a:srgbClr val="F7F7F8"/>
          </a:solidFill>
          <a:ln w="12700">
            <a:solidFill>
              <a:srgbClr val="E4E4E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9"/>
          <p:cNvSpPr/>
          <p:nvPr/>
        </p:nvSpPr>
        <p:spPr>
          <a:xfrm>
            <a:off x="9052560" y="257860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9720" y="2715768"/>
            <a:ext cx="274320" cy="27432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40080" y="3749040"/>
            <a:ext cx="2377440" cy="1280160"/>
          </a:xfrm>
          <a:prstGeom prst="roundRect">
            <a:avLst>
              <a:gd name="adj" fmla="val 8571"/>
            </a:avLst>
          </a:prstGeom>
          <a:solidFill>
            <a:srgbClr val="F7F7F8"/>
          </a:solidFill>
          <a:ln w="12700">
            <a:solidFill>
              <a:srgbClr val="E4E4E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Shape 11"/>
          <p:cNvSpPr/>
          <p:nvPr/>
        </p:nvSpPr>
        <p:spPr>
          <a:xfrm>
            <a:off x="960120" y="413308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7280" y="4270248"/>
            <a:ext cx="274320" cy="274320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3337560" y="3749040"/>
            <a:ext cx="2377440" cy="1280160"/>
          </a:xfrm>
          <a:prstGeom prst="roundRect">
            <a:avLst>
              <a:gd name="adj" fmla="val 8571"/>
            </a:avLst>
          </a:prstGeom>
          <a:solidFill>
            <a:srgbClr val="F7F7F8"/>
          </a:solidFill>
          <a:ln w="12700">
            <a:solidFill>
              <a:srgbClr val="E4E4E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3"/>
          <p:cNvSpPr/>
          <p:nvPr/>
        </p:nvSpPr>
        <p:spPr>
          <a:xfrm>
            <a:off x="3657600" y="413308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94760" y="4270248"/>
            <a:ext cx="274320" cy="274320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6035040" y="3749040"/>
            <a:ext cx="2377440" cy="1280160"/>
          </a:xfrm>
          <a:prstGeom prst="roundRect">
            <a:avLst>
              <a:gd name="adj" fmla="val 8571"/>
            </a:avLst>
          </a:prstGeom>
          <a:solidFill>
            <a:srgbClr val="F7F7F8"/>
          </a:solidFill>
          <a:ln w="12700">
            <a:solidFill>
              <a:srgbClr val="E4E4E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Shape 15"/>
          <p:cNvSpPr/>
          <p:nvPr/>
        </p:nvSpPr>
        <p:spPr>
          <a:xfrm>
            <a:off x="6355080" y="413308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2240" y="4270248"/>
            <a:ext cx="274320" cy="274320"/>
          </a:xfrm>
          <a:prstGeom prst="rect">
            <a:avLst/>
          </a:prstGeom>
        </p:spPr>
      </p:pic>
      <p:sp>
        <p:nvSpPr>
          <p:cNvPr id="25" name="Shape 16"/>
          <p:cNvSpPr/>
          <p:nvPr/>
        </p:nvSpPr>
        <p:spPr>
          <a:xfrm>
            <a:off x="8732520" y="3749040"/>
            <a:ext cx="2377440" cy="1280160"/>
          </a:xfrm>
          <a:prstGeom prst="roundRect">
            <a:avLst>
              <a:gd name="adj" fmla="val 8571"/>
            </a:avLst>
          </a:prstGeom>
          <a:solidFill>
            <a:srgbClr val="F7F7F8"/>
          </a:solidFill>
          <a:ln w="12700">
            <a:solidFill>
              <a:srgbClr val="E4E4E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Shape 17"/>
          <p:cNvSpPr/>
          <p:nvPr/>
        </p:nvSpPr>
        <p:spPr>
          <a:xfrm>
            <a:off x="9052560" y="413308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89720" y="4270248"/>
            <a:ext cx="274320" cy="27432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640080" y="55321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252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Librería: </a:t>
            </a:r>
            <a:r>
              <a:rPr lang="en-US" sz="1300" b="1" dirty="0">
                <a:solidFill>
                  <a:srgbClr val="5252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PrimeIcons</a:t>
            </a:r>
            <a:r>
              <a:rPr lang="en-US" sz="1300" dirty="0">
                <a:solidFill>
                  <a:srgbClr val="5252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 ·  iconos propios en </a:t>
            </a:r>
            <a:r>
              <a:rPr lang="en-US" sz="1300" b="1" dirty="0">
                <a:solidFill>
                  <a:srgbClr val="5252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frontend/public/assets/icons</a:t>
            </a:r>
            <a:r>
              <a:rPr lang="en-US" sz="1300" dirty="0">
                <a:solidFill>
                  <a:srgbClr val="5252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(SVG).</a:t>
            </a:r>
            <a:endParaRPr lang="en-US" sz="1300" dirty="0"/>
          </a:p>
        </p:txBody>
      </p:sp>
      <p:sp>
        <p:nvSpPr>
          <p:cNvPr id="29" name="Text 19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Arfinder · Guía de estilos</a:t>
            </a:r>
            <a:endParaRPr lang="en-US" sz="900" dirty="0"/>
          </a:p>
        </p:txBody>
      </p:sp>
      <p:sp>
        <p:nvSpPr>
          <p:cNvPr id="30" name="Text 20"/>
          <p:cNvSpPr/>
          <p:nvPr/>
        </p:nvSpPr>
        <p:spPr>
          <a:xfrm>
            <a:off x="972281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543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7A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COMPONENTES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8181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Botones, inputs y cards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42900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blurRad="114300" dist="38100" dir="5400000" algn="bl" rotWithShape="0">
              <a:srgbClr val="18181B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960120" y="2514600"/>
            <a:ext cx="822960" cy="822960"/>
          </a:xfrm>
          <a:prstGeom prst="ellipse">
            <a:avLst/>
          </a:prstGeom>
          <a:solidFill>
            <a:srgbClr val="F7F7F8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27432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47472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18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Botones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60120" y="3931920"/>
            <a:ext cx="2788920" cy="411480"/>
          </a:xfrm>
          <a:prstGeom prst="roundRect">
            <a:avLst>
              <a:gd name="adj" fmla="val 13333"/>
            </a:avLst>
          </a:prstGeom>
          <a:solidFill>
            <a:srgbClr val="F7F7F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1097280" y="393192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7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transition-all duration-200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60120" y="448056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252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Estado activo: opacity 0.8.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43400" y="2194560"/>
            <a:ext cx="342900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blurRad="114300" dist="38100" dir="5400000" algn="bl" rotWithShape="0">
              <a:srgbClr val="18181B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9"/>
          <p:cNvSpPr/>
          <p:nvPr/>
        </p:nvSpPr>
        <p:spPr>
          <a:xfrm>
            <a:off x="4663440" y="2514600"/>
            <a:ext cx="822960" cy="822960"/>
          </a:xfrm>
          <a:prstGeom prst="ellipse">
            <a:avLst/>
          </a:prstGeom>
          <a:solidFill>
            <a:srgbClr val="F7F7F8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74320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63440" y="347472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18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Inputs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4663440" y="3931920"/>
            <a:ext cx="2788920" cy="411480"/>
          </a:xfrm>
          <a:prstGeom prst="roundRect">
            <a:avLst>
              <a:gd name="adj" fmla="val 13333"/>
            </a:avLst>
          </a:prstGeom>
          <a:solidFill>
            <a:srgbClr val="F7F7F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2"/>
          <p:cNvSpPr/>
          <p:nvPr/>
        </p:nvSpPr>
        <p:spPr>
          <a:xfrm>
            <a:off x="4800600" y="393192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7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pInputText · pTextarea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663440" y="448056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252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Fondo blanco, borde gray-border, focus ring-4 con border-primary/20.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046720" y="2194560"/>
            <a:ext cx="342900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blurRad="114300" dist="38100" dir="5400000" algn="bl" rotWithShape="0">
              <a:srgbClr val="18181B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5"/>
          <p:cNvSpPr/>
          <p:nvPr/>
        </p:nvSpPr>
        <p:spPr>
          <a:xfrm>
            <a:off x="8366760" y="2514600"/>
            <a:ext cx="822960" cy="822960"/>
          </a:xfrm>
          <a:prstGeom prst="ellipse">
            <a:avLst/>
          </a:prstGeom>
          <a:solidFill>
            <a:srgbClr val="F7F7F8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0" y="2743200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366760" y="347472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18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Cards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8366760" y="3931920"/>
            <a:ext cx="2788920" cy="411480"/>
          </a:xfrm>
          <a:prstGeom prst="roundRect">
            <a:avLst>
              <a:gd name="adj" fmla="val 13333"/>
            </a:avLst>
          </a:prstGeom>
          <a:solidFill>
            <a:srgbClr val="F7F7F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Text 18"/>
          <p:cNvSpPr/>
          <p:nvPr/>
        </p:nvSpPr>
        <p:spPr>
          <a:xfrm>
            <a:off x="8503920" y="393192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7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.premium-card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8366760" y="448056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252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Fondo blanco, borde suave y rounded-3xl.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Arfinder · Guía de estilos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972281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7A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METODOLOGÍA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8181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Cómo se construye el estilo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10881360" cy="1051560"/>
          </a:xfrm>
          <a:prstGeom prst="roundRect">
            <a:avLst>
              <a:gd name="adj" fmla="val 10435"/>
            </a:avLst>
          </a:prstGeom>
          <a:solidFill>
            <a:srgbClr val="F7F7F8"/>
          </a:solidFill>
          <a:ln w="12700">
            <a:solidFill>
              <a:srgbClr val="E4E4E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960120" y="244144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578608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35915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18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Tailwind CSS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83080" y="274320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252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Utilidades y @apply. Orden por @layer: theme, base, primeng, components, utilities.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3429000"/>
            <a:ext cx="10881360" cy="1051560"/>
          </a:xfrm>
          <a:prstGeom prst="roundRect">
            <a:avLst>
              <a:gd name="adj" fmla="val 10435"/>
            </a:avLst>
          </a:prstGeom>
          <a:solidFill>
            <a:srgbClr val="F7F7F8"/>
          </a:solidFill>
          <a:ln w="12700">
            <a:solidFill>
              <a:srgbClr val="E4E4E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960120" y="367588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3813048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83080" y="359359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18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Microinteracciones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783080" y="397764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252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Transiciones suaves: auth-card-enter, fade-in, slide-in/out, deck-enter.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663440"/>
            <a:ext cx="10881360" cy="1051560"/>
          </a:xfrm>
          <a:prstGeom prst="roundRect">
            <a:avLst>
              <a:gd name="adj" fmla="val 10435"/>
            </a:avLst>
          </a:prstGeom>
          <a:solidFill>
            <a:srgbClr val="F7F7F8"/>
          </a:solidFill>
          <a:ln w="12700">
            <a:solidFill>
              <a:srgbClr val="E4E4E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1"/>
          <p:cNvSpPr/>
          <p:nvPr/>
        </p:nvSpPr>
        <p:spPr>
          <a:xfrm>
            <a:off x="960120" y="491032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5047488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482803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18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Responsive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783080" y="521208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252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Breakpoints estándar de Tailwind: sm 640 · md 768 · lg 1024 · xl 1280 · 2xl 1536.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Arfinder · Guía de estilos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972281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5AC8F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GUÍA DE ESTILOS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278892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Coherente y reutilizable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4D4D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Un mismo criterio visual en toda la </a:t>
            </a:r>
            <a:r>
              <a:rPr lang="en-US" sz="1800" dirty="0" err="1">
                <a:solidFill>
                  <a:srgbClr val="D4D4D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aplicación</a:t>
            </a:r>
            <a:r>
              <a:rPr lang="en-US" sz="1800" dirty="0">
                <a:solidFill>
                  <a:srgbClr val="D4D4D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5394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docs/style/style-guide.md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331</Words>
  <Application>Microsoft Office PowerPoint</Application>
  <PresentationFormat>Panorámica</PresentationFormat>
  <Paragraphs>86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Arial</vt:lpstr>
      <vt:lpstr>Consolas</vt:lpstr>
      <vt:lpstr>Playfair Display</vt:lpstr>
      <vt:lpstr>Plus Jakarta Sans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Arfinder — Guía de estilos</dc:title>
  <dc:subject>PptxGenJS Presentation</dc:subject>
  <dc:creator>Adrián Iglesias Álvarez</dc:creator>
  <cp:lastModifiedBy>Adrián Iglesias Álvarez</cp:lastModifiedBy>
  <cp:revision>3</cp:revision>
  <dcterms:created xsi:type="dcterms:W3CDTF">2026-05-29T11:27:03Z</dcterms:created>
  <dcterms:modified xsi:type="dcterms:W3CDTF">2026-05-29T17:50:47Z</dcterms:modified>
</cp:coreProperties>
</file>