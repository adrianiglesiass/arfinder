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54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PROYECTO DAW · CURSO 2025–2026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Arfinder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Plataforma web para encontrar compañeros de piso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532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Adrián Iglesias Álvarez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IES Fernando Wirtz Suárez · Desenvolvemento de Aplicacións Web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0" y="1828800"/>
            <a:ext cx="2286000" cy="868680"/>
          </a:xfrm>
          <a:prstGeom prst="roundRect">
            <a:avLst>
              <a:gd name="adj" fmla="val 47368"/>
            </a:avLst>
          </a:prstGeom>
          <a:solidFill>
            <a:srgbClr val="E5E5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144000" y="1828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¿Buscas piso en A Coruña?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464040" y="2880360"/>
            <a:ext cx="2194560" cy="868680"/>
          </a:xfrm>
          <a:prstGeom prst="roundRect">
            <a:avLst>
              <a:gd name="adj" fmla="val 47368"/>
            </a:avLst>
          </a:prstGeom>
          <a:solidFill>
            <a:srgbClr val="007A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464040" y="2880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¡Sí! Te escribo ahora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Buscar piso compartido sigue siendo un lío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 mudarse de ciudad para estudiar o trabajar, casi todo el mundo busca compañero de piso por grupos de mensajería normales.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60120" y="31546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50" y="339791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 filtros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Imposible acotar por ciudad, presupuesto u horarios.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8346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663440" y="31546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670" y="339791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 perfiles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6344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hay información ordenada de la otra persona.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83464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8366760" y="31546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990" y="3397910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 contexto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36676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 pierde mucho tiempo y se sabe poco de quién hay detrás.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Descripción  ·  2/17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Dos piezas que normalmente van por separado, juntas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51560" y="2560320"/>
            <a:ext cx="1005840" cy="100584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95" y="2841955"/>
            <a:ext cx="442570" cy="4425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Perfil con filtros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43434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usuario crea un perfil con fotos y preferencias de convivencia. Se busca por ciudad, presupuesto, horario, mascotas y más.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214884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629400" y="2560320"/>
            <a:ext cx="1005840" cy="1005840"/>
          </a:xfrm>
          <a:prstGeom prst="ellipse">
            <a:avLst/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035" y="2841955"/>
            <a:ext cx="442570" cy="4425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 en tiempo real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629400" y="43434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Conversaciones uno a uno con mensajes que llegan al instante por WebSocket, con marca de leído.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Todo desde el navegador, sin instalar nada.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Objetivo  ·  3/17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Una aplicación full-stack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0584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66" y="267370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</a:t>
            </a:r>
            <a:endParaRPr lang="en-US" sz="2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204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Python 3.11 + FastAPI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08736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SQLAlchemy + Alembic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65429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08760" y="46085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PostgreSQL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5221224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08760" y="5175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pytest + CI (ruff, black)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6217920" y="210312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0"/>
          <p:cNvSpPr/>
          <p:nvPr/>
        </p:nvSpPr>
        <p:spPr>
          <a:xfrm>
            <a:off x="658368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8506" y="2673706"/>
            <a:ext cx="321869" cy="32186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52360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</a:t>
            </a:r>
            <a:endParaRPr lang="en-US" sz="2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520440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8660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Angular 21 + TypeScript</a:t>
            </a:r>
            <a:endParaRPr lang="en-US" sz="14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4087368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86600" y="4041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</a:t>
            </a:r>
            <a:endParaRPr lang="en-US" sz="14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4654296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086600" y="46085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PrimeNG</a:t>
            </a:r>
            <a:endParaRPr lang="en-US" sz="14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0" y="5221224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086600" y="5175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Estructura modular por features</a:t>
            </a:r>
            <a:endParaRPr lang="en-US" sz="1400" dirty="0"/>
          </a:p>
        </p:txBody>
      </p:sp>
      <p:sp>
        <p:nvSpPr>
          <p:cNvPr id="28" name="Text 1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Medios  ·  4/17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629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Backend por capas, frontend por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 (FastAPI)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2700">
            <a:solidFill>
              <a:srgbClr val="007A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routes — HTTP y WebSocket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services — lógica de negocio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repositories — acceso a datos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models · schemas · clients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(Angular 21)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2514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78892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6948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098280" y="2514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78892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78408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perfiles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583680" y="35661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84048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6948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búsqueda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98280" y="35661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38404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784080" y="3566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mensajes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583680" y="46177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489204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69480" y="4617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9098280" y="46177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489204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84080" y="4617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/ shared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Enfoque híbrido inspirado en Clean Architecture, sin una capa de dominio aislada.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Ejecución  ·  5/17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0109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Qué entra y qué queda fuera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C5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Dentro del alcance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517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1639" y="25466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Registro, login y autenticación con token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1012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2049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Perfil con fotos ordenables (CRUD validado)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6849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827005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Búsqueda con filtros combinables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2686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81639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 1-a-1 con marca de leído y tiempo real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285232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7280" y="518007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Despliegue </a:t>
            </a:r>
            <a:r>
              <a:rPr lang="en-US" sz="1350" dirty="0" err="1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</a:t>
            </a: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350" dirty="0" err="1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producción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658368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Fuera del alcance</a:t>
            </a:r>
            <a:endParaRPr lang="en-US" sz="17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651760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36163" y="2526391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 móvil nativa (la web es responsive)</a:t>
            </a:r>
            <a:endParaRPr lang="en-US" sz="13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310128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036163" y="32049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Chats de grupo con varios perfiles</a:t>
            </a:r>
            <a:endParaRPr lang="en-US" sz="13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968496"/>
            <a:ext cx="292608" cy="29260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036163" y="3843127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Mensajes de voz o archivos adjuntos</a:t>
            </a:r>
            <a:endParaRPr lang="en-US" sz="13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626864"/>
            <a:ext cx="292608" cy="29260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036163" y="45217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Verificación oficial de identidad</a:t>
            </a:r>
            <a:endParaRPr lang="en-US" sz="13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285232"/>
            <a:ext cx="292608" cy="29260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036163" y="51800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Moderación automática de contenido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7" name="Text 15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Alcance  ·  6/17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PLANIFICACIÓN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13 semanas, de febrero a mayo de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84832"/>
            <a:ext cx="310896" cy="310896"/>
          </a:xfrm>
          <a:prstGeom prst="ellipse">
            <a:avLst/>
          </a:prstGeom>
          <a:solidFill>
            <a:srgbClr val="007A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0" cy="466344"/>
          </a:xfrm>
          <a:prstGeom prst="line">
            <a:avLst/>
          </a:prstGeom>
          <a:noFill/>
          <a:ln w="1905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2344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 feb – 16 mar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 y API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Modelos, auth JWT, fotos, chat, búsqueda, tests y CI.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935224"/>
            <a:ext cx="310896" cy="310896"/>
          </a:xfrm>
          <a:prstGeom prst="ellipse">
            <a:avLst/>
          </a:prstGeom>
          <a:solidFill>
            <a:srgbClr val="007A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41248" y="3246120"/>
            <a:ext cx="0" cy="466344"/>
          </a:xfrm>
          <a:prstGeom prst="line">
            <a:avLst/>
          </a:prstGeom>
          <a:noFill/>
          <a:ln w="1905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234440" y="2862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 mar – 25 may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862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Angular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862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paralelo: la línea más larga y de mayor esfuerzo.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785616"/>
            <a:ext cx="310896" cy="310896"/>
          </a:xfrm>
          <a:prstGeom prst="ellipse">
            <a:avLst/>
          </a:prstGeom>
          <a:solidFill>
            <a:srgbClr val="007A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41248" y="4096512"/>
            <a:ext cx="0" cy="466344"/>
          </a:xfrm>
          <a:prstGeom prst="line">
            <a:avLst/>
          </a:prstGeom>
          <a:noFill/>
          <a:ln w="1905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234440" y="37124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– 16 abr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7124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InsForge + PostgreSQL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2240" y="37124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 social y migración de MySQL a PostgreSQL.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636008"/>
            <a:ext cx="310896" cy="310896"/>
          </a:xfrm>
          <a:prstGeom prst="ellipse">
            <a:avLst/>
          </a:prstGeom>
          <a:solidFill>
            <a:srgbClr val="007A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41248" y="4946904"/>
            <a:ext cx="0" cy="466344"/>
          </a:xfrm>
          <a:prstGeom prst="line">
            <a:avLst/>
          </a:prstGeom>
          <a:noFill/>
          <a:ln w="1905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234440" y="45628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 abr – 8 may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5628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Tiempo real propio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5628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WebSockets de FastAPI + pg_notify en lugar de InsForge.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5486400"/>
            <a:ext cx="310896" cy="310896"/>
          </a:xfrm>
          <a:prstGeom prst="ellipse">
            <a:avLst/>
          </a:prstGeom>
          <a:solidFill>
            <a:srgbClr val="007A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234440" y="5413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– 25 may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5413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Despliegue y releases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54132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Fly.io, v1.0.0, v1.1.0 y estabilización del listener.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Planificación  ·  7/17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40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Cinco entidades en tercera forma normal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5240">
            <a:solidFill>
              <a:srgbClr val="007AFF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157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Usuario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0480" y="23774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7F7F8"/>
          </a:solidFill>
          <a:ln w="1524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7157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Perfil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040880" y="23774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7F7F8"/>
          </a:solidFill>
          <a:ln w="1524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71576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1812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Foto_Perfil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3383280" y="2880360"/>
            <a:ext cx="457200" cy="0"/>
          </a:xfrm>
          <a:prstGeom prst="line">
            <a:avLst/>
          </a:prstGeom>
          <a:noFill/>
          <a:ln w="19050">
            <a:solidFill>
              <a:srgbClr val="7171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9"/>
          <p:cNvSpPr/>
          <p:nvPr/>
        </p:nvSpPr>
        <p:spPr>
          <a:xfrm>
            <a:off x="333756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— 1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583680" y="2880360"/>
            <a:ext cx="457200" cy="0"/>
          </a:xfrm>
          <a:prstGeom prst="line">
            <a:avLst/>
          </a:prstGeom>
          <a:noFill/>
          <a:ln w="19050">
            <a:solidFill>
              <a:srgbClr val="7171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1"/>
          <p:cNvSpPr/>
          <p:nvPr/>
        </p:nvSpPr>
        <p:spPr>
          <a:xfrm>
            <a:off x="653796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— 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194560" y="4114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EAF3FF"/>
          </a:solidFill>
          <a:ln w="15240">
            <a:solidFill>
              <a:srgbClr val="007AFF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445312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971800" y="41148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Conversación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394960" y="4114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7F7F8"/>
          </a:solidFill>
          <a:ln w="1524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445312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72200" y="41148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Mensaje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937760" y="4617720"/>
            <a:ext cx="457200" cy="0"/>
          </a:xfrm>
          <a:prstGeom prst="line">
            <a:avLst/>
          </a:prstGeom>
          <a:noFill/>
          <a:ln w="19050">
            <a:solidFill>
              <a:srgbClr val="7171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7"/>
          <p:cNvSpPr/>
          <p:nvPr/>
        </p:nvSpPr>
        <p:spPr>
          <a:xfrm>
            <a:off x="4892040" y="4251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— N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Restricciones a nivel de BD: UNIQUE(profile_id, order) para el orden de fotos y unicidad de conversaciones. Esquema versionado con migraciones Alembic.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Ejecución  ·  8/17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767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recorrido completo del usuario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7249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Registro y login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03120" y="2880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Validaciones, mostrar/ocultar contraseña y verificación de email.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1031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537960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7249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Perfil con fotos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80960" y="2880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Datos de convivencia y fotos ordenables, una marcada como portada.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960120" y="44348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4690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Búsqueda con filtros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103120" y="4846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Ciudad, edad, presupuesto, mascotas, fumador, horario y más.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6537960" y="44348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4690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Mensajería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80960" y="4846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Conversaciones 1-a-1 con tiempo real y marca de leído.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Funcionalidades  ·  9/17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AC8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RETO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Tiempo real propio, sin depender de terceros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Construí el canal </a:t>
            </a:r>
            <a:r>
              <a:rPr lang="en-US" sz="1500" b="1" dirty="0">
                <a:solidFill>
                  <a:srgbClr val="5AC8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/ws/realtime</a:t>
            </a:r>
            <a:r>
              <a:rPr lang="en-US" sz="1500" dirty="0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con WebSockets sobre FastAPI, apoyado en </a:t>
            </a:r>
            <a:r>
              <a:rPr lang="en-US" sz="1500" b="1" dirty="0">
                <a:solidFill>
                  <a:srgbClr val="5AC8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pg_notify</a:t>
            </a:r>
            <a:r>
              <a:rPr lang="en-US" sz="1500" dirty="0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de PostgreSQL, en lugar del servicio gestionado de InsForge que probé al principio.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2727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60120" y="3520440"/>
            <a:ext cx="777240" cy="777240"/>
          </a:xfrm>
          <a:prstGeom prst="ellipse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47" y="3738067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4434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Listener no bloqueante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 frenar el event loop de FastAPI (commit 5547f85).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32004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2727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663440" y="3520440"/>
            <a:ext cx="777240" cy="777240"/>
          </a:xfrm>
          <a:prstGeom prst="ellipse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067" y="3738067"/>
            <a:ext cx="341986" cy="3419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434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 fugas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Suscripciones limpias al cambiar de vista (77703eb).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320040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2727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8366760" y="3520440"/>
            <a:ext cx="777240" cy="777240"/>
          </a:xfrm>
          <a:prstGeom prst="ellipse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387" y="3738067"/>
            <a:ext cx="341986" cy="3419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4434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Always-on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66760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Máquina de Fly.io siempre activa para el listener (1621a4e).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Ejecución  ·  10/17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71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APIs externas, cada una aislada en su módulo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60120" y="2606040"/>
            <a:ext cx="914400" cy="9144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8620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Nominatim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Autocompletado de ciudades (OpenStreetMap), respetando su política de uso.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2860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663440" y="2606040"/>
            <a:ext cx="914400" cy="9144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8620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Cloudinary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Almacenamiento y transformación de las imágenes de perfil.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2860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blurRad="114300" dist="38100" dir="5400000" algn="bl" rotWithShape="0">
              <a:srgbClr val="18181B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8366760" y="2606040"/>
            <a:ext cx="914400" cy="9144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8620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InsForge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66760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Proveedor de autenticación delegada (identidad).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Los errores externos se traducen a respuestas HTTP claras.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Descripción  ·  11/17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CALIDAD Y CONTROL DE VERSIONES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Git, pull requests y CI en cada cambio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68680" y="23134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454250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Dos ramas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0" y="2148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develop (integración) y main (versiones estables).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8680" y="32735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3414370"/>
            <a:ext cx="221285" cy="2212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Pull requests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3108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función con su issue y labels específicos.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868680" y="42336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374490"/>
            <a:ext cx="221285" cy="2212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69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 en GitHub Actions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754880" y="4069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ruff · black · pytest · eslint · prettier antes de fusionar.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868680" y="51937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8" y="5334610"/>
            <a:ext cx="221285" cy="2212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Versiones con tags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754880" y="5029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v1.0.0 (12-05-2026) y v1.1.0 (25-05-2026); fixes v1.1.x.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Ejecución  ·  12/17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Contenedores y producción en Fly.io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286938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4E4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Docker local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PostgreSQL para desarrollo y tests; make automatiza las tareas.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08960" y="3383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4E4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9000" y="23774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703320" y="26517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947" y="2869387"/>
            <a:ext cx="341986" cy="3419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4E4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70332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Fly.io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703320" y="41605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 en contenedor + base de datos arfinder_api.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897880" y="3383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4E4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17920" y="23774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6492240" y="26517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867" y="2869387"/>
            <a:ext cx="341986" cy="3419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552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4E4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4922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Alembic en deploy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92240" y="41605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Migraciones aplicadas automáticamente al desplegar.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686800" y="3383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4E4E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06840" y="23774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1"/>
          <p:cNvSpPr/>
          <p:nvPr/>
        </p:nvSpPr>
        <p:spPr>
          <a:xfrm>
            <a:off x="9281160" y="26517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787" y="2869387"/>
            <a:ext cx="341986" cy="34198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442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4E4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928116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Máquina always-on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281160" y="41605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Mantiene vivo el listener de tiempo real.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Ejecución  ·  13/17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PRESUPUESTO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7.567,50 € a precios de mercado de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55280" y="219456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818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estimado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2926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7.567,50 €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C8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Mano de obra: 300 h a 25 €/h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526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Software y servicios casi todo gratuito u open source.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Mano de obra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7.500,00 €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37744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480560" y="237744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007A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Hardware (amortización)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62,50 €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315468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480560" y="3154680"/>
            <a:ext cx="128016" cy="365760"/>
          </a:xfrm>
          <a:prstGeom prst="roundRect">
            <a:avLst>
              <a:gd name="adj" fmla="val 35714"/>
            </a:avLst>
          </a:prstGeom>
          <a:solidFill>
            <a:srgbClr val="1818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Servicios cloud y dominio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78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5,00 €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393192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480560" y="3931920"/>
            <a:ext cx="73152" cy="365760"/>
          </a:xfrm>
          <a:prstGeom prst="roundRect">
            <a:avLst>
              <a:gd name="adj" fmla="val 62500"/>
            </a:avLst>
          </a:prstGeom>
          <a:solidFill>
            <a:srgbClr val="1818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Software y licencias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956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0,00 €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470916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480560" y="4709160"/>
            <a:ext cx="73152" cy="365760"/>
          </a:xfrm>
          <a:prstGeom prst="roundRect">
            <a:avLst>
              <a:gd name="adj" fmla="val 62500"/>
            </a:avLst>
          </a:prstGeom>
          <a:solidFill>
            <a:srgbClr val="18181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Presupuesto  ·  14/17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51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 sistema de diseño coherente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Paleta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18181B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Primary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25146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07AFF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60020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Enviado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0" y="25146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E5E5EA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65176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Recibido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94760" y="25146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AC8FA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70332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Leído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25146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22C55E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Éxito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Tipografía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Playfair Display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 · cuerpo de texto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2514600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85800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Metodología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2004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 con @apply y @layer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Iconos: PrimeIcons + SVGs propios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Cards .premium-card (rounded-3xl)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Microinteracciones y diseño responsive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Detalle completo en la presentación dedicada de la guía de estilos.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Ejecución  ·  15/17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 ciclo completo, de principio a fin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2525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 me ha servido para juntar en una sola aplicación lo aprendido en el ciclo y pasar por todas las fases: diseño, programación, despliegue y mantenimiento, pensando siempre en usuarios reales.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A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Líneas futuras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520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Verificación de identidad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352044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7033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12280" y="3520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Algoritmos de recomendación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2976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805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297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 móvil nativo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26480" y="42976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4805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12280" y="4297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Chats de grupo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507492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25780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5074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Audio y archivos en el chat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126480" y="507492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F7F7F8"/>
          </a:solidFill>
          <a:ln w="12700">
            <a:solidFill>
              <a:srgbClr val="E4E4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525780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12280" y="5074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18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Moderación de contenido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Conclusiones  ·  16/17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AC8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DEMOSTRACIÓN EN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Gracias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577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Adrián Iglesias Álvarez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Arfinder · v1.1.0 · 2026</a:t>
            </a:r>
            <a:endParaRPr lang="en-US" sz="1400" dirty="0"/>
          </a:p>
        </p:txBody>
      </p:sp>
      <p:sp>
        <p:nvSpPr>
          <p:cNvPr id="6" name="QR Card"/>
          <p:cNvSpPr/>
          <p:nvPr/>
        </p:nvSpPr>
        <p:spPr>
          <a:xfrm>
            <a:off x="5973679" y="385011"/>
            <a:ext cx="5100321" cy="487398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buNone/>
            </a:pPr>
            <a:endParaRPr lang="en-US"/>
          </a:p>
        </p:txBody>
      </p:sp>
      <p:pic>
        <p:nvPicPr>
          <p:cNvPr id="7" name="QR Arfi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689" y="543689"/>
            <a:ext cx="4485311" cy="4485311"/>
          </a:xfrm>
          <a:prstGeom prst="rect">
            <a:avLst/>
          </a:prstGeom>
        </p:spPr>
      </p:pic>
      <p:sp>
        <p:nvSpPr>
          <p:cNvPr id="8" name="QR Caption"/>
          <p:cNvSpPr/>
          <p:nvPr/>
        </p:nvSpPr>
        <p:spPr>
          <a:xfrm>
            <a:off x="6672578" y="5379000"/>
            <a:ext cx="3909195" cy="275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" sz="1200" b="1" kern="0" spc="200" dirty="0">
                <a:solidFill>
                  <a:srgbClr val="5AC8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ESCANEA PARA EXPLORAR</a:t>
            </a:r>
            <a:endParaRPr lang="es-E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1108</Words>
  <Application>Microsoft Office PowerPoint</Application>
  <PresentationFormat>Panorámica</PresentationFormat>
  <Paragraphs>240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Playfair Display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Arfinder — Memoria del proyecto</dc:title>
  <dc:subject>PptxGenJS Presentation</dc:subject>
  <dc:creator>Adrián Iglesias Álvarez</dc:creator>
  <cp:lastModifiedBy>Adrián Iglesias Álvarez</cp:lastModifiedBy>
  <cp:revision>4</cp:revision>
  <dcterms:created xsi:type="dcterms:W3CDTF">2026-05-29T11:25:56Z</dcterms:created>
  <dcterms:modified xsi:type="dcterms:W3CDTF">2026-05-29T17:50:57Z</dcterms:modified>
</cp:coreProperties>
</file>